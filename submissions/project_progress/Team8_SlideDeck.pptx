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358"/>
    <p:restoredTop sz="94694"/>
  </p:normalViewPr>
  <p:slideViewPr>
    <p:cSldViewPr snapToGrid="0" snapToObjects="1">
      <p:cViewPr>
        <p:scale>
          <a:sx n="74" d="100"/>
          <a:sy n="74" d="100"/>
        </p:scale>
        <p:origin x="-200" y="1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0256" y="879190"/>
            <a:ext cx="11208312" cy="509961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0255" y="879191"/>
            <a:ext cx="130203" cy="509961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7456" y="1427831"/>
            <a:ext cx="868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dirty="0">
                <a:solidFill>
                  <a:srgbClr val="1A1A2E"/>
                </a:solidFill>
              </a:rPr>
              <a:t>Agentic RAG: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456" y="2205071"/>
            <a:ext cx="80757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1A73E8"/>
                </a:solidFill>
              </a:rPr>
              <a:t>Tool Routing </a:t>
            </a:r>
            <a:r>
              <a:rPr lang="en-US" sz="4000" b="1" i="0" dirty="0">
                <a:solidFill>
                  <a:srgbClr val="1A73E8"/>
                </a:solidFill>
              </a:rPr>
              <a:t>Accuracy </a:t>
            </a:r>
            <a:r>
              <a:rPr sz="4000" b="1" i="0" dirty="0">
                <a:solidFill>
                  <a:srgbClr val="1A73E8"/>
                </a:solidFill>
              </a:rPr>
              <a:t>Under Prompt Ambiguity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1153" y="4632572"/>
            <a:ext cx="8686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5F6B7C"/>
                </a:solidFill>
              </a:rPr>
              <a:t>Henil Patel  · </a:t>
            </a:r>
            <a:r>
              <a:rPr b="0" i="0" dirty="0">
                <a:solidFill>
                  <a:srgbClr val="5F6B7C"/>
                </a:solidFill>
              </a:rPr>
              <a:t>Parin Shah  ·  Heta Shah</a:t>
            </a:r>
            <a:endParaRPr lang="en-US" b="0" i="0" dirty="0">
              <a:solidFill>
                <a:srgbClr val="5F6B7C"/>
              </a:solidFill>
            </a:endParaRPr>
          </a:p>
          <a:p>
            <a:pPr algn="r"/>
            <a:endParaRPr lang="en-US" sz="700" dirty="0">
              <a:solidFill>
                <a:srgbClr val="5F6B7C"/>
              </a:solidFill>
            </a:endParaRPr>
          </a:p>
          <a:p>
            <a:pPr algn="r"/>
            <a:r>
              <a:rPr lang="en-US" sz="1600" dirty="0">
                <a:solidFill>
                  <a:srgbClr val="5F6B7C"/>
                </a:solidFill>
              </a:rPr>
              <a:t>Supervised By: Prof. Ryan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1153" y="5402034"/>
            <a:ext cx="8686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5F6B7C"/>
                </a:solidFill>
              </a:rPr>
              <a:t>CS 6180  ·  Foundations of Generative AI  ·  Team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2303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A1A2E"/>
                </a:solidFill>
              </a:rPr>
              <a:t>Project Introduction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199" y="1234440"/>
            <a:ext cx="11339689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523954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9D58"/>
                </a:solidFill>
              </a:rP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05300"/>
            <a:ext cx="5808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1A1A2E"/>
                </a:solidFill>
              </a:rPr>
              <a:t>“ How does routing accuracy degrade as prompt ambiguity increases? ”</a:t>
            </a:r>
            <a:endParaRPr sz="1400" b="1" i="0" dirty="0">
              <a:solidFill>
                <a:srgbClr val="1A1A2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720A3-C374-5C1E-9B1F-D563EB4D02F6}"/>
              </a:ext>
            </a:extLst>
          </p:cNvPr>
          <p:cNvSpPr txBox="1"/>
          <p:nvPr/>
        </p:nvSpPr>
        <p:spPr>
          <a:xfrm>
            <a:off x="685800" y="1618460"/>
            <a:ext cx="1034934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The Routing Decision: </a:t>
            </a:r>
            <a:r>
              <a:rPr lang="en-US" sz="1400" dirty="0"/>
              <a:t>RAG enhances LLM reliability by grounding responses in retrieved documents, but modern agentic systems must dynamically choose between a local knowledge store and live web search at query time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Wrong routing = wrong answer:</a:t>
            </a:r>
            <a:r>
              <a:rPr lang="en-US" sz="1400" dirty="0"/>
              <a:t> sending a time-sensitive query to a static document store returns stale data; sending a document-specific query to web search returns irrelevant results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Cost of Routing Errors:</a:t>
            </a:r>
            <a:r>
              <a:rPr lang="en-US" sz="1400" dirty="0"/>
              <a:t> Routing errors cause responses that are outdated, off-topic, or confidently wrong, yet most benchmarks evaluate final answer quality, not the routing decision itself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The Research Gap:</a:t>
            </a:r>
            <a:r>
              <a:rPr lang="en-US" sz="1400" dirty="0"/>
              <a:t> Despite rapid adoption of agentic RAG in enterprise systems, no principled benchmarks exist that measure how routing accuracy degrades as query ambiguity increases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Our Approach:</a:t>
            </a:r>
            <a:r>
              <a:rPr lang="en-US" sz="1400" dirty="0"/>
              <a:t> This project isolates routing as the primary experimental variable, evaluating 6 strategies across 4 LLMs and 3 ambiguity tiers to identify where and why routers fail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3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1A1A2E"/>
                </a:solidFill>
              </a:rPr>
              <a:t>Methodology</a:t>
            </a:r>
            <a:endParaRPr sz="2200" b="1" i="0" dirty="0">
              <a:solidFill>
                <a:srgbClr val="1A1A2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064" y="1911772"/>
            <a:ext cx="3657600" cy="346368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1911773"/>
            <a:ext cx="36576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048933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A73E8"/>
                </a:solidFill>
              </a:rPr>
              <a:t>Routing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368404"/>
            <a:ext cx="3383280" cy="2787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</a:pPr>
            <a:r>
              <a:rPr sz="1200" b="0" i="0" dirty="0">
                <a:solidFill>
                  <a:srgbClr val="1A1A2E"/>
                </a:solidFill>
              </a:rPr>
              <a:t>• Rule-Based</a:t>
            </a:r>
            <a:r>
              <a:rPr lang="en-US" sz="1200" b="0" i="0" dirty="0">
                <a:solidFill>
                  <a:srgbClr val="1A1A2E"/>
                </a:solidFill>
              </a:rPr>
              <a:t>:</a:t>
            </a:r>
            <a:r>
              <a:rPr sz="1200" b="0" i="0" dirty="0">
                <a:solidFill>
                  <a:srgbClr val="1A1A2E"/>
                </a:solidFill>
              </a:rPr>
              <a:t> temporal keyword matching</a:t>
            </a:r>
            <a:endParaRPr lang="en-US" sz="1200" b="0" i="0" dirty="0">
              <a:solidFill>
                <a:srgbClr val="1A1A2E"/>
              </a:solidFill>
            </a:endParaRP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Always-Local: naive baseline (52% ceiling)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Zero-Shot LLM: direct prompt → JSON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Few-Shot LLM: 3 labeled examples in context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</a:t>
            </a:r>
            <a:r>
              <a:rPr lang="en-US" sz="1200" dirty="0" err="1">
                <a:solidFill>
                  <a:srgbClr val="1A1A2E"/>
                </a:solidFill>
              </a:rPr>
              <a:t>CoT</a:t>
            </a:r>
            <a:r>
              <a:rPr lang="en-US" sz="1200" dirty="0">
                <a:solidFill>
                  <a:srgbClr val="1A1A2E"/>
                </a:solidFill>
              </a:rPr>
              <a:t> LLM: chain-of-thought before classifying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</a:t>
            </a:r>
            <a:r>
              <a:rPr lang="en-US" sz="1200" dirty="0" err="1">
                <a:solidFill>
                  <a:srgbClr val="1A1A2E"/>
                </a:solidFill>
              </a:rPr>
              <a:t>LangGraph</a:t>
            </a:r>
            <a:r>
              <a:rPr lang="en-US" sz="1200" dirty="0">
                <a:solidFill>
                  <a:srgbClr val="1A1A2E"/>
                </a:solidFill>
              </a:rPr>
              <a:t> Agent: multi-node stateful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1911773"/>
            <a:ext cx="3657600" cy="34636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25696" y="1911773"/>
            <a:ext cx="3657600" cy="7315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6" y="2048933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4B400"/>
                </a:solidFill>
              </a:rPr>
              <a:t>Models Evaluated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460413"/>
            <a:ext cx="3383280" cy="1864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</a:pPr>
            <a:r>
              <a:rPr sz="1200" b="0" i="0" dirty="0">
                <a:solidFill>
                  <a:srgbClr val="1A1A2E"/>
                </a:solidFill>
              </a:rPr>
              <a:t>• Llama-3-8B-Instruct</a:t>
            </a:r>
            <a:endParaRPr lang="en-US" sz="1200" b="0" i="0" dirty="0">
              <a:solidFill>
                <a:srgbClr val="1A1A2E"/>
              </a:solidFill>
            </a:endParaRP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GPT-4o-mini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Gemma-3-27B-IT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Claude Sonnet 4.6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8" y="1911773"/>
            <a:ext cx="3657600" cy="34636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39328" y="1911773"/>
            <a:ext cx="3657600" cy="7315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2048933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F9D58"/>
                </a:solidFill>
              </a:rPr>
              <a:t>Stack &amp;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368404"/>
            <a:ext cx="3383280" cy="2787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</a:pPr>
            <a:r>
              <a:rPr sz="1200" b="0" i="0" dirty="0">
                <a:solidFill>
                  <a:srgbClr val="1A1A2E"/>
                </a:solidFill>
              </a:rPr>
              <a:t>• </a:t>
            </a:r>
            <a:r>
              <a:rPr sz="1200" b="0" i="0" dirty="0" err="1">
                <a:solidFill>
                  <a:srgbClr val="1A1A2E"/>
                </a:solidFill>
              </a:rPr>
              <a:t>LangChain</a:t>
            </a:r>
            <a:r>
              <a:rPr sz="1200" b="0" i="0" dirty="0">
                <a:solidFill>
                  <a:srgbClr val="1A1A2E"/>
                </a:solidFill>
              </a:rPr>
              <a:t> + </a:t>
            </a:r>
            <a:r>
              <a:rPr sz="1200" b="0" i="0" dirty="0" err="1">
                <a:solidFill>
                  <a:srgbClr val="1A1A2E"/>
                </a:solidFill>
              </a:rPr>
              <a:t>LangGraph</a:t>
            </a:r>
            <a:endParaRPr lang="en-US" sz="1200" b="0" i="0" dirty="0">
              <a:solidFill>
                <a:srgbClr val="1A1A2E"/>
              </a:solidFill>
            </a:endParaRP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</a:t>
            </a:r>
            <a:r>
              <a:rPr lang="en-US" sz="1200" dirty="0" err="1">
                <a:solidFill>
                  <a:srgbClr val="1A1A2E"/>
                </a:solidFill>
              </a:rPr>
              <a:t>ChromaDB</a:t>
            </a:r>
            <a:r>
              <a:rPr lang="en-US" sz="1200" dirty="0">
                <a:solidFill>
                  <a:srgbClr val="1A1A2E"/>
                </a:solidFill>
              </a:rPr>
              <a:t>  (22 FY2025 10-Ks)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</a:t>
            </a:r>
            <a:r>
              <a:rPr lang="en-US" sz="1200" dirty="0" err="1">
                <a:solidFill>
                  <a:srgbClr val="1A1A2E"/>
                </a:solidFill>
              </a:rPr>
              <a:t>Tavily</a:t>
            </a:r>
            <a:r>
              <a:rPr lang="en-US" sz="1200" dirty="0">
                <a:solidFill>
                  <a:srgbClr val="1A1A2E"/>
                </a:solidFill>
              </a:rPr>
              <a:t> real-time web search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all-MiniLM-L6-v2 embeddings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100 queries,  3 ambiguity tiers</a:t>
            </a:r>
          </a:p>
          <a:p>
            <a:pPr>
              <a:lnSpc>
                <a:spcPct val="250000"/>
              </a:lnSpc>
            </a:pPr>
            <a:r>
              <a:rPr lang="en-US" sz="1200" dirty="0">
                <a:solidFill>
                  <a:srgbClr val="1A1A2E"/>
                </a:solidFill>
              </a:rPr>
              <a:t>• 52 local,  48 web 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5C29-72A6-8C2A-F902-209B2E7B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35292D-6EF6-7BDC-0ED6-F9FFA93893B9}"/>
              </a:ext>
            </a:extLst>
          </p:cNvPr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8A6F4-E494-DEE8-DB08-D0327246C6A9}"/>
              </a:ext>
            </a:extLst>
          </p:cNvPr>
          <p:cNvSpPr txBox="1"/>
          <p:nvPr/>
        </p:nvSpPr>
        <p:spPr>
          <a:xfrm>
            <a:off x="594360" y="393193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1A1A2E"/>
                </a:solidFill>
              </a:rPr>
              <a:t>Methodology</a:t>
            </a:r>
            <a:endParaRPr sz="2200" b="1" i="0" dirty="0">
              <a:solidFill>
                <a:srgbClr val="1A1A2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555D8C-929D-89BA-E9ED-8EEC8203B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090" y="1064890"/>
            <a:ext cx="6136735" cy="579311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72DCC8-C957-E7A9-8124-3530CB95361E}"/>
              </a:ext>
            </a:extLst>
          </p:cNvPr>
          <p:cNvSpPr/>
          <p:nvPr/>
        </p:nvSpPr>
        <p:spPr>
          <a:xfrm>
            <a:off x="1018210" y="1697284"/>
            <a:ext cx="4693967" cy="36256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343680-B811-1A44-36A6-E7D38A027E38}"/>
              </a:ext>
            </a:extLst>
          </p:cNvPr>
          <p:cNvSpPr/>
          <p:nvPr/>
        </p:nvSpPr>
        <p:spPr>
          <a:xfrm>
            <a:off x="1018211" y="1697284"/>
            <a:ext cx="4693966" cy="75104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E352C4-6B29-62CC-751B-28979C09A8D4}"/>
              </a:ext>
            </a:extLst>
          </p:cNvPr>
          <p:cNvSpPr txBox="1"/>
          <p:nvPr/>
        </p:nvSpPr>
        <p:spPr>
          <a:xfrm>
            <a:off x="1155371" y="183444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9D58"/>
                </a:solidFill>
              </a:rPr>
              <a:t>Dataset &amp; Ambiguity Tiers</a:t>
            </a:r>
            <a:endParaRPr b="1" dirty="0">
              <a:solidFill>
                <a:srgbClr val="0F9D58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058F77-D27C-43ED-F638-7BBFB7A03BC3}"/>
              </a:ext>
            </a:extLst>
          </p:cNvPr>
          <p:cNvSpPr txBox="1"/>
          <p:nvPr/>
        </p:nvSpPr>
        <p:spPr>
          <a:xfrm>
            <a:off x="1155371" y="2265832"/>
            <a:ext cx="43811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100 labeled queries across 22 company 10-Ks</a:t>
            </a:r>
          </a:p>
          <a:p>
            <a:endParaRPr lang="en-US" sz="1200" dirty="0"/>
          </a:p>
          <a:p>
            <a:r>
              <a:rPr lang="en-US" sz="1200" b="1" dirty="0"/>
              <a:t>Tier 1 — Clear Intent</a:t>
            </a:r>
            <a:r>
              <a:rPr lang="en-US" sz="1200" dirty="0"/>
              <a:t> </a:t>
            </a:r>
            <a:r>
              <a:rPr lang="en-US" sz="1200" i="1" dirty="0"/>
              <a:t>(40 queries)</a:t>
            </a:r>
            <a:r>
              <a:rPr lang="en-US" sz="1200" dirty="0"/>
              <a:t> Unambiguous, explicit source signal </a:t>
            </a:r>
            <a:r>
              <a:rPr lang="en-US" sz="1200" i="1" dirty="0"/>
              <a:t>"How many employees did Amazon report as of Dec 31, 2025?"</a:t>
            </a:r>
            <a:r>
              <a:rPr lang="en-US" sz="1200" dirty="0"/>
              <a:t> → local </a:t>
            </a:r>
            <a:r>
              <a:rPr lang="en-US" sz="1200" i="1" dirty="0"/>
              <a:t>"What is Amazon's stock price right now?"</a:t>
            </a:r>
            <a:r>
              <a:rPr lang="en-US" sz="1200" dirty="0"/>
              <a:t> → web</a:t>
            </a:r>
          </a:p>
          <a:p>
            <a:endParaRPr lang="en-US" sz="1200" dirty="0"/>
          </a:p>
          <a:p>
            <a:r>
              <a:rPr lang="en-US" sz="1200" b="1" dirty="0"/>
              <a:t>Tier 2 — Moderately Ambiguous</a:t>
            </a:r>
            <a:r>
              <a:rPr lang="en-US" sz="1200" dirty="0"/>
              <a:t> </a:t>
            </a:r>
            <a:r>
              <a:rPr lang="en-US" sz="1200" i="1" dirty="0"/>
              <a:t>(30 queries)</a:t>
            </a:r>
            <a:r>
              <a:rPr lang="en-US" sz="1200" dirty="0"/>
              <a:t> Requires inference about recency or scope </a:t>
            </a:r>
            <a:r>
              <a:rPr lang="en-US" sz="1200" i="1" dirty="0"/>
              <a:t>"What was Adobe's total revenue for FY2025?"</a:t>
            </a:r>
            <a:r>
              <a:rPr lang="en-US" sz="1200" dirty="0"/>
              <a:t> → local or web </a:t>
            </a:r>
            <a:r>
              <a:rPr lang="en-US" sz="1200" i="1" dirty="0"/>
              <a:t>"How is Alphabet integrating Gemini AI?"</a:t>
            </a:r>
            <a:r>
              <a:rPr lang="en-US" sz="1200" dirty="0"/>
              <a:t> → web</a:t>
            </a:r>
          </a:p>
          <a:p>
            <a:endParaRPr lang="en-US" sz="1200" dirty="0"/>
          </a:p>
          <a:p>
            <a:r>
              <a:rPr lang="en-US" sz="1200" b="1" dirty="0"/>
              <a:t>Tier 3 — Highly Ambiguous</a:t>
            </a:r>
            <a:r>
              <a:rPr lang="en-US" sz="1200" dirty="0"/>
              <a:t> </a:t>
            </a:r>
            <a:r>
              <a:rPr lang="en-US" sz="1200" i="1" dirty="0"/>
              <a:t>(30 queries)</a:t>
            </a:r>
            <a:r>
              <a:rPr lang="en-US" sz="1200" dirty="0"/>
              <a:t> Vague or open-ended, no clear source signal </a:t>
            </a:r>
            <a:r>
              <a:rPr lang="en-US" sz="1200" i="1" dirty="0"/>
              <a:t>"What is Alphabet's moonshots strategy?"</a:t>
            </a:r>
            <a:r>
              <a:rPr lang="en-US" sz="1200" dirty="0"/>
              <a:t> </a:t>
            </a:r>
            <a:r>
              <a:rPr lang="en-US" sz="1200" i="1" dirty="0"/>
              <a:t>"How is Amazon's growth?"</a:t>
            </a:r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4270D4-977D-4768-D72C-853878A44CA0}"/>
              </a:ext>
            </a:extLst>
          </p:cNvPr>
          <p:cNvSpPr/>
          <p:nvPr/>
        </p:nvSpPr>
        <p:spPr>
          <a:xfrm>
            <a:off x="8419381" y="2898475"/>
            <a:ext cx="1318979" cy="3623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8038" y="393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A1A2E"/>
                </a:solidFill>
              </a:rPr>
              <a:t>Results — Routing Accuracy by Ambiguity Tier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1681849"/>
            <a:ext cx="6949440" cy="43172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7498079" y="118872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1188720"/>
            <a:ext cx="64008" cy="16002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59" y="1388655"/>
            <a:ext cx="40233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Sonnet 4.6 achieves the highest accuracy (84%) across all LLM-based strategies, followed by Gemma-3-27B (82%), GPT-4o-mini (79%), and LLaMA-3-8B (76%). Rule-based accuracy remains flat at 36% across all models.</a:t>
            </a:r>
            <a:endParaRPr sz="1400" b="0" i="0" dirty="0">
              <a:solidFill>
                <a:srgbClr val="1A1A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79" y="292608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2926080"/>
            <a:ext cx="64008" cy="1600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59" y="3249126"/>
            <a:ext cx="4023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All strategies degrade sharply from Tier 1 to Tier 2, with zero-shot dropping from 95% to 60% and few-shot from 90% to 73%. Rule-based collapses entirely at Tiers 2 and 3 (13%).</a:t>
            </a:r>
            <a:endParaRPr sz="1400" b="0" i="0" dirty="0">
              <a:solidFill>
                <a:srgbClr val="1A1A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79" y="466344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663440"/>
            <a:ext cx="64008" cy="1600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59" y="4986486"/>
            <a:ext cx="4023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Model capability matters more than prompt strategy. Claude achieves 84% across all 3 prompt versions, adding few-shot or </a:t>
            </a:r>
            <a:r>
              <a:rPr lang="en-US" sz="1400" dirty="0" err="1"/>
              <a:t>CoT</a:t>
            </a:r>
            <a:r>
              <a:rPr lang="en-US" sz="1400" dirty="0"/>
              <a:t> changes nothing for strong models.</a:t>
            </a:r>
            <a:endParaRPr sz="1400" b="0" i="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5290" y="3703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A1A2E"/>
                </a:solidFill>
              </a:rPr>
              <a:t>Model Comparison &amp; Failure Patterns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2064" y="1116625"/>
            <a:ext cx="5733415" cy="35120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400800" y="1097280"/>
            <a:ext cx="5486400" cy="280205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17779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A1A2E"/>
                </a:solidFill>
              </a:rPr>
              <a:t>Model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27632"/>
            <a:ext cx="5486400" cy="420624"/>
          </a:xfrm>
          <a:prstGeom prst="rect">
            <a:avLst/>
          </a:prstGeom>
          <a:solidFill>
            <a:srgbClr val="EBF3FD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/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700784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/>
              <a:t>Overall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48" y="1700784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/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170078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/>
              <a:t>Tier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66543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0528" y="2139696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/>
              <a:t>Claude Sonnet</a:t>
            </a:r>
            <a:r>
              <a:rPr lang="en-US" sz="1200" b="0" i="0" dirty="0"/>
              <a:t> 4.6</a:t>
            </a:r>
            <a:endParaRPr sz="1200" b="0" i="0" dirty="0"/>
          </a:p>
        </p:txBody>
      </p:sp>
      <p:sp>
        <p:nvSpPr>
          <p:cNvPr id="16" name="TextBox 15"/>
          <p:cNvSpPr txBox="1"/>
          <p:nvPr/>
        </p:nvSpPr>
        <p:spPr>
          <a:xfrm>
            <a:off x="8430768" y="2139696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139696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9608" y="2139696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63–73%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05456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10528" y="2578608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/>
              <a:t>Gemma</a:t>
            </a:r>
            <a:r>
              <a:rPr lang="en-US" sz="1200" b="0" i="0" dirty="0"/>
              <a:t> </a:t>
            </a:r>
            <a:r>
              <a:rPr sz="1200" b="0" i="0" dirty="0"/>
              <a:t>3</a:t>
            </a:r>
            <a:r>
              <a:rPr lang="en-US" sz="1200" b="0" i="0" dirty="0"/>
              <a:t> </a:t>
            </a:r>
            <a:r>
              <a:rPr sz="1200" b="0" i="0" dirty="0"/>
              <a:t>27B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578608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75–82%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5786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90–98%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2578608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57–67%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44368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0528" y="3017520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/>
              <a:t>GPT</a:t>
            </a:r>
            <a:r>
              <a:rPr lang="en-US" sz="1200" b="0" i="0" dirty="0"/>
              <a:t> </a:t>
            </a:r>
            <a:r>
              <a:rPr sz="1200" b="0" i="0" dirty="0"/>
              <a:t>4o</a:t>
            </a:r>
            <a:r>
              <a:rPr lang="en-US" sz="1200" b="0" i="0" dirty="0"/>
              <a:t> </a:t>
            </a:r>
            <a:r>
              <a:rPr sz="1200" b="0" i="0" dirty="0"/>
              <a:t>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017520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78–79%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3017520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98–100%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9608" y="3017520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60–67%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383280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8" y="3456432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/>
              <a:t>Llama</a:t>
            </a:r>
            <a:r>
              <a:rPr lang="en-US" sz="1200" b="0" i="0" dirty="0"/>
              <a:t> </a:t>
            </a:r>
            <a:r>
              <a:rPr sz="1200" b="0" i="0" dirty="0"/>
              <a:t>3</a:t>
            </a:r>
            <a:r>
              <a:rPr lang="en-US" sz="1200" b="0" i="0" dirty="0"/>
              <a:t> </a:t>
            </a:r>
            <a:r>
              <a:rPr sz="1200" b="0" i="0" dirty="0"/>
              <a:t>8B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456432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74–77%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456432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90–100%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9608" y="3456432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/>
              <a:t>57–63%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54864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22452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Top Failure 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6344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73E8"/>
                </a:solidFill>
              </a:rPr>
              <a:t>• Vague-Query Bias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93775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Open-ended queries default to web even when the local 10-K has the answer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21807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• Local → Web Misroutes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596127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Risk factors, KPIs, strategy queries sent to web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980175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• Temporal Confusion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254495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'Early 2026' — annual filing vs. live market data ambiguity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E83BB0-F65E-D2AC-E5B5-FDB22FE8A1DC}"/>
              </a:ext>
            </a:extLst>
          </p:cNvPr>
          <p:cNvSpPr/>
          <p:nvPr/>
        </p:nvSpPr>
        <p:spPr>
          <a:xfrm>
            <a:off x="500235" y="4800600"/>
            <a:ext cx="573341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7F13-9405-6390-50DE-394A931737E9}"/>
              </a:ext>
            </a:extLst>
          </p:cNvPr>
          <p:cNvSpPr/>
          <p:nvPr/>
        </p:nvSpPr>
        <p:spPr>
          <a:xfrm>
            <a:off x="484504" y="4800600"/>
            <a:ext cx="99343" cy="1828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EE7E88-B3E4-A0A9-192F-1750D5DAAABD}"/>
              </a:ext>
            </a:extLst>
          </p:cNvPr>
          <p:cNvSpPr txBox="1"/>
          <p:nvPr/>
        </p:nvSpPr>
        <p:spPr>
          <a:xfrm>
            <a:off x="683117" y="5029368"/>
            <a:ext cx="5255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4B400"/>
                </a:solidFill>
              </a:rPr>
              <a:t>Ambiguity is the Ceiling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CE2AA9-00EB-EEFF-5A27-5B1189B58508}"/>
              </a:ext>
            </a:extLst>
          </p:cNvPr>
          <p:cNvSpPr txBox="1"/>
          <p:nvPr/>
        </p:nvSpPr>
        <p:spPr>
          <a:xfrm>
            <a:off x="669514" y="5377331"/>
            <a:ext cx="54248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LLM-based routers achieve high accuracy on clear queries but routing accuracy degrades significantly as query ambiguity increases, dropping from 100% (Tier 1) to 73% (Tier 3) even for the strongest model (Sonnet 4.6). This demonstrates that query ambiguity, not model size or prompt strategy, is the primary bottleneck in agentic RAG routing.</a:t>
            </a:r>
            <a:endParaRPr sz="1200" b="0" i="0" dirty="0">
              <a:solidFill>
                <a:srgbClr val="1A1A2E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B8B162-8261-F797-A8FE-D6E49AFD3583}"/>
              </a:ext>
            </a:extLst>
          </p:cNvPr>
          <p:cNvSpPr/>
          <p:nvPr/>
        </p:nvSpPr>
        <p:spPr>
          <a:xfrm>
            <a:off x="6400798" y="4107570"/>
            <a:ext cx="59437" cy="25218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37869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900484"/>
            <a:ext cx="5486400" cy="365315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1900485"/>
            <a:ext cx="5486400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55933"/>
            <a:ext cx="5117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73E8"/>
                </a:solidFill>
              </a:rPr>
              <a:t>Linguistic Failure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586285"/>
            <a:ext cx="5117253" cy="2644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 b="0" i="0" dirty="0">
                <a:solidFill>
                  <a:srgbClr val="1A1A2E"/>
                </a:solidFill>
              </a:rPr>
              <a:t>Examine which specific query features drive mis</a:t>
            </a:r>
            <a:r>
              <a:rPr lang="en-US" sz="1400" b="0" i="0" dirty="0">
                <a:solidFill>
                  <a:srgbClr val="1A1A2E"/>
                </a:solidFill>
              </a:rPr>
              <a:t>-</a:t>
            </a:r>
            <a:r>
              <a:rPr sz="1400" b="0" i="0" dirty="0">
                <a:solidFill>
                  <a:srgbClr val="1A1A2E"/>
                </a:solidFill>
              </a:rPr>
              <a:t>routes:
• Missing temporal markers
• Bare entity references (no verb, no scope)
• Underspecified or open-ended queries
Goal: </a:t>
            </a:r>
            <a:r>
              <a:rPr lang="en-US" sz="1400" b="0" i="0" dirty="0">
                <a:solidFill>
                  <a:srgbClr val="1A1A2E"/>
                </a:solidFill>
              </a:rPr>
              <a:t>Produce </a:t>
            </a:r>
            <a:r>
              <a:rPr sz="1400" b="0" i="0" dirty="0">
                <a:solidFill>
                  <a:srgbClr val="1A1A2E"/>
                </a:solidFill>
              </a:rPr>
              <a:t>interpretable findings about what makes a query hard to route.</a:t>
            </a:r>
            <a:endParaRPr lang="en-US" sz="1400" b="0" i="0" dirty="0">
              <a:solidFill>
                <a:srgbClr val="1A1A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01384" y="1900485"/>
            <a:ext cx="5303520" cy="3653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01384" y="1900485"/>
            <a:ext cx="5303520" cy="82296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84264" y="2055933"/>
            <a:ext cx="4919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F9D58"/>
                </a:solidFill>
              </a:rPr>
              <a:t>Final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2586285"/>
            <a:ext cx="4919345" cy="232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1A1A2E"/>
                </a:solidFill>
              </a:rPr>
              <a:t>Full write-up covering:
• Related work &amp; background
• System design &amp; methodology
• Full experimental results
• Limitations &amp; future work
</a:t>
            </a:r>
            <a:endParaRPr lang="en-US" sz="1400" b="0" i="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0C3F6F-34AB-469F-E3FA-A3A5A5E8E74C}"/>
              </a:ext>
            </a:extLst>
          </p:cNvPr>
          <p:cNvSpPr/>
          <p:nvPr/>
        </p:nvSpPr>
        <p:spPr>
          <a:xfrm>
            <a:off x="3683801" y="2624435"/>
            <a:ext cx="413542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1465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793</Words>
  <Application>Microsoft Macintosh PowerPoint</Application>
  <PresentationFormat>Custom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Parin Shah</cp:lastModifiedBy>
  <cp:revision>13</cp:revision>
  <dcterms:created xsi:type="dcterms:W3CDTF">2013-01-27T09:14:16Z</dcterms:created>
  <dcterms:modified xsi:type="dcterms:W3CDTF">2026-04-06T22:30:23Z</dcterms:modified>
  <cp:category/>
</cp:coreProperties>
</file>