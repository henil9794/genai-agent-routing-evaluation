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944575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109728" cy="4297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A2E"/>
                </a:solidFill>
              </a:rPr>
              <a:t>Agentic RAG: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06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73E8"/>
                </a:solidFill>
              </a:rPr>
              <a:t>Tool Routing Under Prompt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37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6B7C"/>
                </a:solidFill>
              </a:rPr>
              <a:t>Evaluating how LLM-based routing strategies choose between local knowledge retrieval
and real-time web search as query ambiguity 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6B7C"/>
                </a:solidFill>
              </a:rPr>
              <a:t>Parin Shah  ·  Henil Patel  ·  Heta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902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B7C"/>
                </a:solidFill>
              </a:rPr>
              <a:t>CS 6180  ·  Foundations of Generative AI  ·  Team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F6B7C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Project Introduction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6B7C"/>
                </a:solidFill>
              </a:rPr>
              <a:t>Why routing is the critical decision layer in agentic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In agentic RAG, a router decides whether a query goes to a local vector database or live web search. Real-world queries are rarely clean — they are vague, context-dependent, and temporally ambiguous.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Who Benefits?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Financial analysts, compliance teams, and investors ask queries that blend static filing knowledge with live market data — one agent, two very different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221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879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Prior RAG evaluations focus on retrieval quality, not routing decisions. No principled benchmarks exist for routing quality across ambiguity levels.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19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9D58"/>
                </a:solidFill>
              </a:rPr>
              <a:t>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852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How does routing accuracy degrade as prompt ambiguity increases?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</a:rPr>
              <a:t>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874519"/>
            <a:ext cx="283464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965960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3E8"/>
                </a:solidFill>
              </a:rPr>
              <a:t>User Query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423160"/>
            <a:ext cx="4572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2788920"/>
            <a:ext cx="3749039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88036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3E8"/>
                </a:solidFill>
              </a:rPr>
              <a:t>Router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172968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7C"/>
                </a:solidFill>
              </a:rPr>
              <a:t>LLM-based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493008"/>
            <a:ext cx="45720" cy="34747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44200" y="3493008"/>
            <a:ext cx="45720" cy="34747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867912"/>
            <a:ext cx="2103120" cy="658368"/>
          </a:xfrm>
          <a:prstGeom prst="rect">
            <a:avLst/>
          </a:prstGeom>
          <a:solidFill>
            <a:srgbClr val="E6F4E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959352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9D58"/>
                </a:solidFill>
              </a:rPr>
              <a:t>Local Vector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251960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7C"/>
                </a:solidFill>
              </a:rPr>
              <a:t>ChromaDB · 22 10-Ks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867912"/>
            <a:ext cx="2103120" cy="658368"/>
          </a:xfrm>
          <a:prstGeom prst="rect">
            <a:avLst/>
          </a:prstGeom>
          <a:solidFill>
            <a:srgbClr val="FEF7E0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3959352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B400"/>
                </a:solidFill>
              </a:rPr>
              <a:t>Web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4251960"/>
            <a:ext cx="1883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7C"/>
                </a:solidFill>
              </a:rPr>
              <a:t>Real-time via Tavily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709160"/>
            <a:ext cx="5212080" cy="1554480"/>
          </a:xfrm>
          <a:prstGeom prst="rect">
            <a:avLst/>
          </a:prstGeom>
          <a:solidFill>
            <a:srgbClr val="FFEBEB"/>
          </a:solidFill>
          <a:ln w="12700">
            <a:solidFill>
              <a:srgbClr val="F2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7731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221F"/>
                </a:solidFill>
              </a:rPr>
              <a:t>⚠  Wrong Routing = Wrong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1389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Routing 'stock price' to a 2025 10-K returns stale data.
Routing 'business segments' to web misses deep filing knowledge.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F6B7C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Progress —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6B7C"/>
                </a:solidFill>
              </a:rPr>
              <a:t>6 routing strategies × 4 LLM backends × 100 labeled queries across 22 company 10-Ks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576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Routing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Rule-Based — temporal keyword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7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Always-Local — naive baseline (52% ceiling)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7413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Zero-Shot LLM — direct prompt →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2394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Few-Shot LLM — 3 labeled examples in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7375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CoT LLM — chain-of-thought before classifying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62355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LangGraph Agent — multi-node stateful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1234440"/>
            <a:ext cx="36576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234440"/>
            <a:ext cx="3657600" cy="7315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371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</a:rPr>
              <a:t>Models Evaluated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87451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Llama-3-8B-Instruct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624327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GPT-4o-mini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37413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Gemma-3-27B-IT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12394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Claude Sonnet 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562355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All via OpenRouter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4" y="1234440"/>
            <a:ext cx="36576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4464" y="1234440"/>
            <a:ext cx="3657600" cy="7315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371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9D58"/>
                </a:solidFill>
              </a:rPr>
              <a:t>Stack &amp;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87451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LangChain + LangGraph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624327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ChromaDB  (22 FY2025 10-Ks)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37413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Tavily real-time web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12394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all-MiniLM-L6-v2 embeddings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487375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100 queries  ·  3 ambiguity tiers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562355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52 local  ·  48 web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F6B7C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Results — Routing Accuracy by Ambiguity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6B7C"/>
                </a:solidFill>
              </a:rPr>
              <a:t>LLM-based routers decisively outperform baselines — but all degrade under ambiguity</a:t>
            </a:r>
          </a:p>
        </p:txBody>
      </p:sp>
      <p:pic>
        <p:nvPicPr>
          <p:cNvPr id="5" name="Picture 4" descr="accuracy_vs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188720"/>
            <a:ext cx="4389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188720"/>
            <a:ext cx="64008" cy="16002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2984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9D58"/>
                </a:solidFill>
              </a:rPr>
              <a:t>LLM Routers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All LLM strategies reach 84% at 100% coverage. Rule-based collapses to 36% and abstains on 59% of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926080"/>
            <a:ext cx="4389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2926080"/>
            <a:ext cx="64008" cy="1600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0358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B400"/>
                </a:solidFill>
              </a:rPr>
              <a:t>Ambiguity is the Ceiling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42900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LLM routers drop 27–37 accuracy points from Tier 1 → Tier 3. ANOVA p &lt; 0.001 across all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663440"/>
            <a:ext cx="4389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4663440"/>
            <a:ext cx="64008" cy="1600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77316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Few-Shot Leads Tier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166359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Few-Shot hits 83% on moderately ambiguous queries — 10 pts above Zero-Shot. Best practical production gain.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F6B7C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Model Comparison &amp; Failure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6B7C"/>
                </a:solidFill>
              </a:rPr>
              <a:t>Model quality drives Tier 1; ambiguity becomes the bottleneck at Tier 3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852160" cy="2971800"/>
          </a:xfrm>
          <a:prstGeom prst="rect">
            <a:avLst/>
          </a:prstGeom>
        </p:spPr>
      </p:pic>
      <p:pic>
        <p:nvPicPr>
          <p:cNvPr id="6" name="Picture 5" descr="failure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14800"/>
            <a:ext cx="5852160" cy="251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097280"/>
            <a:ext cx="54864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Model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27632"/>
            <a:ext cx="5486400" cy="420624"/>
          </a:xfrm>
          <a:prstGeom prst="rect">
            <a:avLst/>
          </a:prstGeom>
          <a:solidFill>
            <a:srgbClr val="EBF3FD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007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7007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Overall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8048" y="170078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9D58"/>
                </a:solidFill>
              </a:rPr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170078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221F"/>
                </a:solidFill>
              </a:rPr>
              <a:t>Tier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66543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Claude Sonnet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1396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139696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9D58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9608" y="21396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221F"/>
                </a:solidFill>
              </a:rPr>
              <a:t>63–73%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05456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5786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Gemma-3-27B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5786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75–82%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2578608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9D58"/>
                </a:solidFill>
              </a:rPr>
              <a:t>90–98%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25786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221F"/>
                </a:solidFill>
              </a:rPr>
              <a:t>57–67%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44368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017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GPT-4o-mini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0175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78–79%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30175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9D58"/>
                </a:solidFill>
              </a:rPr>
              <a:t>98–100%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9608" y="30175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221F"/>
                </a:solidFill>
              </a:rPr>
              <a:t>60–67%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383280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34564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Llama-3-8B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34564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74–77%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45643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9D58"/>
                </a:solidFill>
              </a:rPr>
              <a:t>90–100%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79608" y="34564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221F"/>
                </a:solidFill>
              </a:rPr>
              <a:t>57–63%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114800"/>
            <a:ext cx="54864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224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Top Failure Modes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634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• Vague-Query Bias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937759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Open-ended queries default to web even when the local 10-K has the answer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2180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• Local → Web Misroutes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596127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Risk factors, KPIs, strategy queries sent to web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980175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• Temporal Confusion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6254495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'Early 2026' — annual filing vs. live market data ambiguity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F6B7C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6B7C"/>
                </a:solidFill>
              </a:rPr>
              <a:t>Two focused tasks to close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669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669280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3E8"/>
                </a:solidFill>
              </a:rPr>
              <a:t>Linguistic Failure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Examine which specific query features drive misroutes:
• Missing temporal markers
• Bare entity references (no verb, no scope)
• Underspecified or open-ended queries
Goal: characterize the residual 16–26% error rate at a linguistic level and produce interpretable findings about what makes a query hard to route.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94960"/>
            <a:ext cx="5303520" cy="502920"/>
          </a:xfrm>
          <a:prstGeom prst="rect">
            <a:avLst/>
          </a:prstGeom>
          <a:solidFill>
            <a:srgbClr val="EBF3FD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Owner: Parin Shah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234440"/>
            <a:ext cx="5669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234440"/>
            <a:ext cx="5669280" cy="82296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D58"/>
                </a:solidFill>
              </a:rPr>
              <a:t>Final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Full write-up covering:
• Related work &amp; background
• System design &amp; methodology
• Full experimental results
• Limitations &amp; future work
The codebase is already reproducible. The report wraps the complete narrative around our findings.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5394960"/>
            <a:ext cx="5303520" cy="502920"/>
          </a:xfrm>
          <a:prstGeom prst="rect">
            <a:avLst/>
          </a:prstGeom>
          <a:solidFill>
            <a:srgbClr val="EBF3FD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5486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Owner: Heta Shah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Team 8  ·  Parin Shah  ·  Henil Patel  ·  Heta Shah  ·  CS 6180 · Foundations of Generative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F6B7C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